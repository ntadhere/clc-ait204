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4937759"/>
            <a:ext cx="8302752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7FB"/>
                </a:solidFill>
                <a:latin typeface="Calibri"/>
              </a:rPr>
              <a:t>AIT-204 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RNN Temperature
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1091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7FB"/>
                </a:solidFill>
                <a:latin typeface="Calibri"/>
              </a:rPr>
              <a:t>Jena Climate Dataset  ·  NumPy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5617464"/>
            <a:ext cx="331252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0" dirty="0">
                <a:solidFill>
                  <a:srgbClr val="FFFFFF"/>
                </a:solidFill>
                <a:latin typeface="Courier New"/>
              </a:rPr>
              <a:t>Truong Anh Dao Nguyen</a:t>
            </a:r>
          </a:p>
          <a:p>
            <a:pPr algn="l">
              <a:spcAft>
                <a:spcPts val="600"/>
              </a:spcAft>
            </a:pPr>
            <a:r>
              <a:rPr lang="en-US" sz="1100" b="0" dirty="0">
                <a:solidFill>
                  <a:srgbClr val="FFFFFF"/>
                </a:solidFill>
                <a:latin typeface="Courier New"/>
              </a:rPr>
              <a:t>Gavin Higgins</a:t>
            </a:r>
            <a:endParaRPr sz="1100" b="0" dirty="0">
              <a:solidFill>
                <a:srgbClr val="FFFFFF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212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1731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Jena Climate 2009-2016 · 14 features · 420K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80160"/>
            <a:ext cx="5212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79" y="160020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41731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18288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Min-Max normalization · Sliding window (720 steps)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212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632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Vanilla RNN · Xavier init · Truncated BPTT · Adam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926080"/>
            <a:ext cx="5212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79" y="324612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79" y="3246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30632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34747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30 epochs · batch 64 · BPTT 50 · lr 0.001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5212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091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206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RMSE = 0.254 °C · MAE = 0.184 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572000"/>
            <a:ext cx="52120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79" y="489204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79" y="4892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47091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51206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Observations · Improvements ·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  ·  Dataset: Jena Climate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Max Planck Inst. for Biogeochemistry, Jena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7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9572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Jan 2009 — Dec 2016 (7+ years)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16935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1693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Every 10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Total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3814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420,551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593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9593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14 meteorological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5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4805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 (degC)  — air temperature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01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Temp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0017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−23.01 °C  to  +37.28 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22975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Temp mean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52297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≈ 9.5 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88720"/>
            <a:ext cx="5760720" cy="5303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All 14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p (mbar) —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042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★ T (degC) — Temperature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340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Tpot (K) — Potential 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1638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Tdew (degC) — Dew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5935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rh (%) — Humidity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0233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VPmax / VPact / VPdef — Vapour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45312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sh (g/kg) — Specific humidity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828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H2OC — Water vapour conc.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31266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rho (g/m³) — Air density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74243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wv / max.wv — Wind speed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61721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• wd (deg) — Wind direction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  ·  Data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37160" cy="1828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Data 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pandas read_csv()
Extract T (degC) column
Convert to float64 NumPy array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137160" cy="1828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Min-Max Normalization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64208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Scale T to [0, 1]
T_min = −23.01 °C
T_max = +37.28 °C
norm = (T − T_min) / (T_max − T_min)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13716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Sequence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664208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Sliding window: 720 steps
= 5 days × 144 readings
X[i] = temp[i : i+720]
y[i] = temp[i+720]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11430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401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Data Split &amp; Shapes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2103120" cy="23774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Training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33,587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Chronological 80%
Sample step =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794760"/>
            <a:ext cx="2103120" cy="23774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Test samples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24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8,397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Most recent 20%
Chronological split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794760"/>
            <a:ext cx="2103120" cy="23774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79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X shape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224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(N, 720, 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4800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Samples × Time steps ×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794760"/>
            <a:ext cx="2103120" cy="23774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y shape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224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(N,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800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Next temperature scalar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3794760"/>
            <a:ext cx="2103120" cy="237744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Total possible seqs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224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Calibri"/>
              </a:rPr>
              <a:t>419,830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8006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Before sampling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  ·  Model Architecture — Vanilla RNN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3035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Recurrence Equations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2C39A"/>
                </a:solidFill>
                <a:latin typeface="Courier New"/>
              </a:rPr>
              <a:t>h_t  =  tanh( x_t · W_xh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2C39A"/>
                </a:solidFill>
                <a:latin typeface="Courier New"/>
              </a:rPr>
              <a:t>           +  h_{t-1} · W_hh  +  b_h )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02C39A"/>
              </a:solidFill>
              <a:latin typeface="Courier New"/>
            </a:endParaRP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2C39A"/>
                </a:solidFill>
                <a:latin typeface="Courier New"/>
              </a:rPr>
              <a:t>y  =  h_T · W_hy  +  b_y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02C39A"/>
              </a:solidFill>
              <a:latin typeface="Courier New"/>
            </a:endParaRP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2C39A"/>
                </a:solidFill>
                <a:latin typeface="Courier New"/>
              </a:rPr>
              <a:t>x_t  ∈ ℝ¹   (input at step t)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2C39A"/>
                </a:solidFill>
                <a:latin typeface="Courier New"/>
              </a:rPr>
              <a:t>h_t  ∈ ℝ³²  (hidden state)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2C39A"/>
                </a:solidFill>
                <a:latin typeface="Courier New"/>
              </a:rPr>
              <a:t>y    ∈ ℝ¹   (output from h_T)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/>
              </a:rPr>
              <a:t>W_xh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1×32 =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90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/>
              </a:rPr>
              <a:t>W_hh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90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32×32 = 1,024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38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/>
              </a:rPr>
              <a:t>b_h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38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85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/>
              </a:rPr>
              <a:t>W_hy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85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32×1 =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33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urier New"/>
              </a:rPr>
              <a:t>b_y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733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ourier New"/>
              </a:rPr>
              <a:t>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080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1,121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88720"/>
            <a:ext cx="57607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Training Configuration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783080"/>
            <a:ext cx="5760720" cy="43891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847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Optimiser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Adam  (β₁=0.9, β₂=0.999)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258568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32257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Learning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32257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0.001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734056"/>
            <a:ext cx="5760720" cy="43891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798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Batch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7980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64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209544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327355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Epochs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27355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685032"/>
            <a:ext cx="5760720" cy="43891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37490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Activation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749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tanh  (hidden)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160520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4224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Init method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224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Xavier / Glorot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636008"/>
            <a:ext cx="5760720" cy="43891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4700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BPTT 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7000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50 steps  (≈ 8.3 h)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5111496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51755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Grad clipping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5175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Max global norm = 5.0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5586984"/>
            <a:ext cx="5760720" cy="438912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56509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Loss function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5650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6062472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6126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6126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Single-layer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4  ·  Training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5A82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Epochs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4300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5A82"/>
                </a:solidFill>
                <a:latin typeface="Calibri"/>
              </a:rPr>
              <a:t>0.000015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Final 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4300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5A82"/>
                </a:solidFill>
                <a:latin typeface="Calibri"/>
              </a:rPr>
              <a:t>187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Train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143000"/>
            <a:ext cx="2560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5A82"/>
                </a:solidFill>
                <a:latin typeface="Calibri"/>
              </a:rPr>
              <a:t>1,121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Parameters</a:t>
            </a:r>
          </a:p>
        </p:txBody>
      </p:sp>
      <p:pic>
        <p:nvPicPr>
          <p:cNvPr id="16" name="Picture 15" descr="rn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11430000" cy="402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6601968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Figure: Training loss (MSE, log scale) and actual vs. predicted temperature on test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  ·  Model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65760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0.254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B"/>
                </a:solidFill>
                <a:latin typeface="Calibri"/>
              </a:rPr>
              <a:t>Root Mean Square Error
(Test Set)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3657600" cy="2011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0.184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B"/>
                </a:solidFill>
                <a:latin typeface="Calibri"/>
              </a:rPr>
              <a:t>Mean Absolute Error
(Test Set)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657600" cy="20116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  <a:latin typeface="Calibri"/>
              </a:rPr>
              <a:t>0.0646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7FB"/>
                </a:solidFill>
                <a:latin typeface="Calibri"/>
              </a:rPr>
              <a:t>Mean Squared Error
(normalised scale)</a:t>
            </a:r>
          </a:p>
        </p:txBody>
      </p:sp>
      <p:pic>
        <p:nvPicPr>
          <p:cNvPr id="16" name="Picture 15" descr="rn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83280"/>
            <a:ext cx="3657600" cy="3200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89120" y="3383280"/>
            <a:ext cx="74066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49300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39"/>
            <a:ext cx="6949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RMSE of 0.254 °C is very strong for 1-step-ahead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334255"/>
            <a:ext cx="6949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Temperature is a highly autocorrelated signal — the model exploits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90872"/>
            <a:ext cx="6949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short-term momentum in the time series effectively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47488"/>
            <a:ext cx="6949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Scatter plot shows tight clustering around the ideal diagonal,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04104"/>
            <a:ext cx="6949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confirming predictions track actual temperatures closely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760720"/>
            <a:ext cx="6949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Slight spread at extreme temperatures (very cold / very hot)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117336"/>
            <a:ext cx="6949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  is expected, as these are rarer training samples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6  ·  Discussion &amp; Potential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09728" cy="53035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Truncated BPTT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Gradients propagate only 50 steps (≈8 h).
Very long-range dependencies not fully captured.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Vanishing gradients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Vanilla RNN struggles with long horizons.
Gradients decay exponentially over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7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Temperature is highly predictable in the
short term — this favours simple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▸ Hyperparameters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5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Hidden size 32 outperformed 64 per unit of
compute; lr=0.001 converged cleanly.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88720"/>
            <a:ext cx="5760720" cy="5303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984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Potential Improvements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783080"/>
            <a:ext cx="5760720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LSTM / GRU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94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Gated units handle long-range
dependencies far better than vanilla RNN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788920"/>
            <a:ext cx="5760720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8346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Multi-feature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0040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Use all 14 features (pressure, humidity…)
for richer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794760"/>
            <a:ext cx="5760720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Multi-step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20624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Predict next 6 or 12 readings
for practical utility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800600"/>
            <a:ext cx="5760720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Stacked RNN layers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21208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Deeper architecture captures
hierarchical temporal patterns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5806440"/>
            <a:ext cx="5760720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85215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→  Batch normalisation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62179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7FB"/>
                </a:solidFill>
                <a:latin typeface="Calibri"/>
              </a:rPr>
              <a:t>Stabilise training; allow higher lr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Calibri"/>
              </a:rPr>
              <a:t>7  · 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3291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41148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Implemented a Vanilla RNN from scratch in NumPy — no external deep learning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286000"/>
            <a:ext cx="41148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Preprocessed 420K rows: Min-Max normalization + 720-step sliding window sequences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88920"/>
            <a:ext cx="41148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Achieved Test RMSE = 0.254 °C and MAE = 0.184 °C in 30 epochs (~3 minutes)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91840"/>
            <a:ext cx="41148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291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Training loss fell from 0.00798 → 0.000015 — strong, stable convergence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41148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947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Model captures short-term temperature dynamics effectively via Truncated BPTT + Adam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12471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7365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Lessons Learned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Truncated BPTT is essential for long-sequence training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Gradient clipping prevents training instability in deep recurrent nets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✓  Next step: replace with LSTM for better long-range dependency modelling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978</Words>
  <Application>Microsoft Office PowerPoint</Application>
  <PresentationFormat>Custom</PresentationFormat>
  <Paragraphs>186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Dao Nguyen</cp:lastModifiedBy>
  <cp:revision>2</cp:revision>
  <dcterms:created xsi:type="dcterms:W3CDTF">2013-01-27T09:14:16Z</dcterms:created>
  <dcterms:modified xsi:type="dcterms:W3CDTF">2026-03-20T16:40:49Z</dcterms:modified>
  <cp:category/>
</cp:coreProperties>
</file>