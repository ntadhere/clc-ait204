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4937759"/>
            <a:ext cx="8302752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F7FB"/>
                </a:solidFill>
                <a:latin typeface="Calibri"/>
              </a:rPr>
              <a:t>AIT-204 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RNN Temperature
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1091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7FB"/>
                </a:solidFill>
                <a:latin typeface="Calibri"/>
              </a:rPr>
              <a:t>Jena Climate Dataset  ·  NumPy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88552" y="18288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Student : Dorothy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Date    : March 19, 2026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ourier New"/>
              </a:rPr>
              <a:t>Model   : Vanilla RNN (NumPy)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212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417319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82880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Jena Climate 2009-2016 · 14 features · 420K rows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280160"/>
            <a:ext cx="5212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79" y="160020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600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9" y="1417319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182880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Min-Max normalization · Sliding window (720 steps)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5212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0632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747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Vanilla RNN · Xavier init · Truncated BPTT · Adam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926080"/>
            <a:ext cx="5212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79" y="324612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59" y="30632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34747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30 epochs · batch 64 · BPTT 50 · lr 0.001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5212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89204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091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12064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RMSE = 0.254 °C · MAE = 0.184 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572000"/>
            <a:ext cx="52120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79" y="489204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79" y="4892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59" y="47091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</a:rPr>
              <a:t>Discussion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59" y="512064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Observations · Improvements ·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  ·  Dataset: Jena Climate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Dataset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87451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Max Planck Inst. for Biogeochemistry, Jena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5727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395727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Jan 2009 — Dec 2016 (7+ years)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16935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916935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Every 10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Total 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438144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420,551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5935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95935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14 meteorological variables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59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80559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 (degC)  — air temperature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01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Temp 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5001768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−23.01 °C  to  +37.28 °C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22975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Temp mean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5522975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≈ 9.5 °C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188720"/>
            <a:ext cx="5760720" cy="53035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325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All 14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p (mbar) — Pressure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30428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★ T (degC) — 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7340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Tpot (K) — Potential temp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16382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Tdew (degC) — Dew 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593591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rh (%) — Humidity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02335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VPmax / VPact / VPdef — Vapour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45312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sh (g/kg) — Specific humidity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8289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H2OC — Water vapour conc.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3126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rho (g/m³) — Air density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742431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wv / max.wv — Wind speed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617219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• wd (deg) — Wind direction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  ·  Data Preprocessing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Data 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pandas read_csv()
Extract T (degC) column
Convert to float64 NumPy array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566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Min-Max Normalization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64208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Scale T to [0, 1]
T_min = −23.01 °C
T_max = +37.28 °C
norm = (T − T_min) / (T_max − T_min)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566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13716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C39A"/>
                </a:solidFill>
                <a:latin typeface="Calibri"/>
              </a:rPr>
              <a:t>Sequence Creation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664208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Sliding window: 720 steps
= 5 days × 144 readings
X[i] = temp[i : i+720]
y[i] = temp[i+720]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91840"/>
            <a:ext cx="114300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01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Data Split &amp; Shapes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94760"/>
            <a:ext cx="2103120" cy="237744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Training samples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24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65A82"/>
                </a:solidFill>
                <a:latin typeface="Calibri"/>
              </a:rPr>
              <a:t>33,587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Chronological 80%
Sample step =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3794760"/>
            <a:ext cx="2103120" cy="237744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38404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Test samples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224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65A82"/>
                </a:solidFill>
                <a:latin typeface="Calibri"/>
              </a:rPr>
              <a:t>8,397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Most recent 20%
Chronological split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3794760"/>
            <a:ext cx="2103120" cy="237744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79" y="38404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X 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9" y="4224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65A82"/>
                </a:solidFill>
                <a:latin typeface="Calibri"/>
              </a:rPr>
              <a:t>(N, 720,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79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Samples × Time steps × Features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794760"/>
            <a:ext cx="2103120" cy="237744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38404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y shape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224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65A82"/>
                </a:solidFill>
                <a:latin typeface="Calibri"/>
              </a:rPr>
              <a:t>(N, 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Next temperature scalar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3794760"/>
            <a:ext cx="2103120" cy="237744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38404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Total possible seqs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4224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65A82"/>
                </a:solidFill>
                <a:latin typeface="Calibri"/>
              </a:rPr>
              <a:t>419,830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2E"/>
                </a:solidFill>
                <a:latin typeface="Calibri"/>
              </a:rPr>
              <a:t>Before sampling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  ·  Model Architecture — Vanilla RNN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30352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Recurrence Equations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>h_t  =  tanh( x_t · W_xh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>           +  h_{t-1} · W_hh  +  b_h 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>y  =  h_T · W_hy  +  b_y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>x_t  ∈ ℝ¹   (input at step t)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>h_t  ∈ ℝ³²  (hidden state)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2C39A"/>
                </a:solidFill>
                <a:latin typeface="Courier New"/>
              </a:rPr>
              <a:t>y    ∈ ℝ¹   (output from h_T)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86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ourier New"/>
              </a:rPr>
              <a:t>W_xh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343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1×32 = 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90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ourier New"/>
              </a:rPr>
              <a:t>W_hh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690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32×32 = 1,024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383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ourier New"/>
              </a:rPr>
              <a:t>b_h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0383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ourier New"/>
              </a:rPr>
              <a:t>W_hy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3858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32×1 =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33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ourier New"/>
              </a:rPr>
              <a:t>b_y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733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ourier New"/>
              </a:rPr>
              <a:t>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6080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1,121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18872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298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Training Configuration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783080"/>
            <a:ext cx="5760720" cy="438912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8470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Optimiser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18470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Adam  (β₁=0.9, β₂=0.999)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258568"/>
            <a:ext cx="5760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322575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Learning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322575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0.001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734056"/>
            <a:ext cx="5760720" cy="438912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279806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Batch 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79806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64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3209544"/>
            <a:ext cx="5760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327355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Epochs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273551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685032"/>
            <a:ext cx="5760720" cy="438912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7490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Activation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37490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tanh  (hidden)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4160520"/>
            <a:ext cx="5760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42245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Init method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42245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Xavier / Glorot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4636008"/>
            <a:ext cx="5760720" cy="438912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47000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BPTT window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70001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50 steps  (≈ 8.3 h)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5111496"/>
            <a:ext cx="5760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51755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Grad clipping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517550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Max global norm = 5.0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5586984"/>
            <a:ext cx="5760720" cy="438912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56509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Loss function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56509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MSE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6062472"/>
            <a:ext cx="57607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6126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Architecture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6126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Single-layer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  ·  Training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256032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5A82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Epochs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143000"/>
            <a:ext cx="256032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5A82"/>
                </a:solidFill>
                <a:latin typeface="Calibri"/>
              </a:rPr>
              <a:t>0.000015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Final MSE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43000"/>
            <a:ext cx="256032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5A82"/>
                </a:solidFill>
                <a:latin typeface="Calibri"/>
              </a:rPr>
              <a:t>187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Train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143000"/>
            <a:ext cx="256032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188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5A82"/>
                </a:solidFill>
                <a:latin typeface="Calibri"/>
              </a:rPr>
              <a:t>1,121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Parameters</a:t>
            </a:r>
          </a:p>
        </p:txBody>
      </p:sp>
      <p:pic>
        <p:nvPicPr>
          <p:cNvPr id="16" name="Picture 15" descr="rn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60320"/>
            <a:ext cx="11430000" cy="402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6601968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Figure: Training loss (MSE, log scale) and actual vs. predicted temperature on test 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  ·  Model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3657600" cy="2011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2C39A"/>
                </a:solidFill>
                <a:latin typeface="Calibri"/>
              </a:rPr>
              <a:t>0.254 °C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7FB"/>
                </a:solidFill>
                <a:latin typeface="Calibri"/>
              </a:rPr>
              <a:t>Root Mean Square Error
(Test Set)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43000"/>
            <a:ext cx="3657600" cy="2011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88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2C39A"/>
                </a:solidFill>
                <a:latin typeface="Calibri"/>
              </a:rPr>
              <a:t>0.184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7FB"/>
                </a:solidFill>
                <a:latin typeface="Calibri"/>
              </a:rPr>
              <a:t>Mean Absolute Error
(Test Set)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43000"/>
            <a:ext cx="3657600" cy="20116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188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916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2C39A"/>
                </a:solidFill>
                <a:latin typeface="Calibri"/>
              </a:rPr>
              <a:t>0.0646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4688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7FB"/>
                </a:solidFill>
                <a:latin typeface="Calibri"/>
              </a:rPr>
              <a:t>Mean Squared Error
(normalised scale)</a:t>
            </a:r>
          </a:p>
        </p:txBody>
      </p:sp>
      <p:pic>
        <p:nvPicPr>
          <p:cNvPr id="16" name="Picture 15" descr="rn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383280"/>
            <a:ext cx="3657600" cy="32004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89120" y="3383280"/>
            <a:ext cx="74066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493008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77639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RMSE of 0.254 °C is very strong for 1-step-ahead 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334255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Temperature is a highly autocorrelated signal — the model exploits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690872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  short-term momentum in the time series effectively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047488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Scatter plot shows tight clustering around the ideal diagonal,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404104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  confirming predictions track actual temperatures closely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60720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• Slight spread at extreme temperatures (very cold / very hot)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117336"/>
            <a:ext cx="694944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  is expected, as these are rarer training samples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 ·  Discussion &amp; Potential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9728" cy="530352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Truncated BPTT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Gradients propagate only 50 steps (≈8 h).
Very long-range dependencies not fully captured.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Vanishing gradients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Vanilla RNN struggles with long horizons.
Gradients decay exponentially over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Autocorrelation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7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Temperature is highly predictable in the
short term — this favours simple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Hidden size 32 outperformed 64 per unit of
compute; lr=0.001 converged cleanly.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188720"/>
            <a:ext cx="5760720" cy="53035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984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Potential Improvements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783080"/>
            <a:ext cx="5760720" cy="914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8288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→  LSTM / GRU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19456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Gated units handle long-range
dependencies far better than vanilla RNN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788920"/>
            <a:ext cx="5760720" cy="914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8346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→  Multi-feature input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20040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Use all 14 features (pressure, humidity…)
for richer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794760"/>
            <a:ext cx="5760720" cy="914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8404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→  Multi-step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20624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Predict next 6 or 12 readings
for practical utility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800600"/>
            <a:ext cx="5760720" cy="914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8463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→  Stacked RNN layers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21208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Deeper architecture captures
hierarchical temporal patterns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5806440"/>
            <a:ext cx="5760720" cy="914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585215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→  Batch normalisation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6217920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7FB"/>
                </a:solidFill>
                <a:latin typeface="Calibri"/>
              </a:rPr>
              <a:t>Stabilise training; allow higher lr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7  · 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3291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2C39A"/>
                </a:solidFill>
                <a:latin typeface="Calibri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411480" cy="365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830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Implemented a Vanilla RNN from scratch in NumPy — no external deep learning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411480" cy="365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28600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Preprocessed 420K rows: Min-Max normalization + 720-step sliding window sequences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88920"/>
            <a:ext cx="411480" cy="365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889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7889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Achieved Test RMSE = 0.254 °C and MAE = 0.184 °C in 30 epochs (~3 minutes)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291840"/>
            <a:ext cx="411480" cy="365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9184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9184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Training loss fell from 0.00798 → 0.000015 — strong, stable convergence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794760"/>
            <a:ext cx="411480" cy="365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9476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5A82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79476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Model captures short-term temperature dynamics effectively via Truncated BPTT + Adam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12471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3659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95C"/>
                </a:solidFill>
                <a:latin typeface="Calibri"/>
              </a:rPr>
              <a:t>Lessons Learned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✓  Truncated BPTT is essential for long-sequence training efficiency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✓  Gradient clipping prevents training instability in deep recurrent nets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✓  Next step: replace with LSTM for better long-range dependency modelling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